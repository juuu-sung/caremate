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731520" y="1143000"/>
            <a:ext cx="10698480" cy="11430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32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CareMate 노인 특화 음성 AI 에이전트</a:t>
            </a:r>
            <a:endParaRPr lang="ko-KR" sz="3200"/>
          </a:p>
          <a:p>
            <a:r>
              <a:rPr lang="ko-KR" sz="32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모델 실험 계획</a:t>
            </a:r>
            <a:endParaRPr lang="ko-KR" sz="3200"/>
          </a:p>
        </p:txBody>
      </p:sp>
      <p:sp>
        <p:nvSpPr>
          <p:cNvPr id="4" name="Rect 4"/>
          <p:cNvSpPr/>
          <p:nvPr/>
        </p:nvSpPr>
        <p:spPr>
          <a:xfrm>
            <a:off x="749808" y="2514600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31520" y="288036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000" dirty="0" b="0">
                <a:solidFill>
                  <a:srgbClr val="64748B"/>
                </a:solidFill>
                <a:latin typeface="Apple SD Gothic Neo"/>
                <a:ea typeface="Apple SD Gothic Neo"/>
              </a:rPr>
              <a:t>앱 운영 파이프라인 안에서 STT, 정규화, 의도 분류, 위험 분석 모델 후보를 비교·검증하는 실험 계획</a:t>
            </a:r>
            <a:endParaRPr lang="ko-KR" sz="2000"/>
          </a:p>
        </p:txBody>
      </p:sp>
      <p:sp>
        <p:nvSpPr>
          <p:cNvPr id="6" name="TextBox 6"/>
          <p:cNvSpPr txBox="1"/>
          <p:nvPr/>
        </p:nvSpPr>
        <p:spPr>
          <a:xfrm>
            <a:off x="731520" y="6080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2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전체 구조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CareMate는 앱 운영 파이프라인과 모델 실험 파이프라인으로 나뉜다.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앱 운영 파이프라인: 사용자 음성 → STT → 정규화 → 의도 분류 → GPT 에이전트 → 서버 실행 → TTS 응답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모델 실험 파이프라인: AI Hub 데이터 → 모델 학습/평가 → 운영 모델과 비교 → 서비스 반영 여부 결정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본 발표의 핵심은 “앱 구조 안에서 어떤 모델을 실험하고 비교할 것인가”이다.</a:t>
            </a:r>
            <a:endParaRPr lang="ko-KR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앱 운영 대화 파이프라인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10" name="Rect 10"/>
          <p:cNvSpPr/>
          <p:nvPr/>
        </p:nvSpPr>
        <p:spPr>
          <a:xfrm>
            <a:off x="502920" y="1600200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48640" y="1655064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사용자 음성 입력</a:t>
            </a:r>
            <a:endParaRPr lang="ko-KR" sz="1100"/>
          </a:p>
        </p:txBody>
      </p:sp>
      <p:cxnSp>
        <p:nvCxnSpPr>
          <p:cNvPr id="60" name="Line 60"/>
          <p:cNvCxnSpPr/>
          <p:nvPr/>
        </p:nvCxnSpPr>
        <p:spPr>
          <a:xfrm>
            <a:off x="2103120" y="1883664"/>
            <a:ext cx="228600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11" name="Rect 11"/>
          <p:cNvSpPr/>
          <p:nvPr/>
        </p:nvSpPr>
        <p:spPr>
          <a:xfrm>
            <a:off x="2377439" y="1600200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423159" y="1655064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STT</a:t>
            </a:r>
            <a:endParaRPr lang="ko-KR" sz="1100"/>
          </a:p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gpt-4o-mini-transcribe</a:t>
            </a:r>
            <a:endParaRPr lang="ko-KR" sz="1100"/>
          </a:p>
        </p:txBody>
      </p:sp>
      <p:cxnSp>
        <p:nvCxnSpPr>
          <p:cNvPr id="61" name="Line 61"/>
          <p:cNvCxnSpPr/>
          <p:nvPr/>
        </p:nvCxnSpPr>
        <p:spPr>
          <a:xfrm>
            <a:off x="3977639" y="1883664"/>
            <a:ext cx="228600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12" name="Rect 12"/>
          <p:cNvSpPr/>
          <p:nvPr/>
        </p:nvSpPr>
        <p:spPr>
          <a:xfrm>
            <a:off x="4251959" y="1600200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297679" y="1655064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raw transcript 저장</a:t>
            </a:r>
            <a:endParaRPr lang="ko-KR" sz="1100"/>
          </a:p>
        </p:txBody>
      </p:sp>
      <p:cxnSp>
        <p:nvCxnSpPr>
          <p:cNvPr id="62" name="Line 62"/>
          <p:cNvCxnSpPr/>
          <p:nvPr/>
        </p:nvCxnSpPr>
        <p:spPr>
          <a:xfrm>
            <a:off x="5852159" y="1883664"/>
            <a:ext cx="228600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13" name="Rect 13"/>
          <p:cNvSpPr/>
          <p:nvPr/>
        </p:nvSpPr>
        <p:spPr>
          <a:xfrm>
            <a:off x="6126479" y="1600200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172199" y="1655064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사투리/노인 발화 정규화</a:t>
            </a:r>
            <a:endParaRPr lang="ko-KR" sz="1100"/>
          </a:p>
        </p:txBody>
      </p:sp>
      <p:cxnSp>
        <p:nvCxnSpPr>
          <p:cNvPr id="63" name="Line 63"/>
          <p:cNvCxnSpPr/>
          <p:nvPr/>
        </p:nvCxnSpPr>
        <p:spPr>
          <a:xfrm>
            <a:off x="7726679" y="1883664"/>
            <a:ext cx="228600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14" name="Rect 14"/>
          <p:cNvSpPr/>
          <p:nvPr/>
        </p:nvSpPr>
        <p:spPr>
          <a:xfrm>
            <a:off x="8001000" y="1600200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046720" y="1655064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의도 분류 + 슬롯 추출</a:t>
            </a:r>
            <a:endParaRPr lang="ko-KR" sz="1100"/>
          </a:p>
        </p:txBody>
      </p:sp>
      <p:cxnSp>
        <p:nvCxnSpPr>
          <p:cNvPr id="64" name="Line 64"/>
          <p:cNvCxnSpPr/>
          <p:nvPr/>
        </p:nvCxnSpPr>
        <p:spPr>
          <a:xfrm>
            <a:off x="9601200" y="1883664"/>
            <a:ext cx="228600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15" name="Rect 15"/>
          <p:cNvSpPr/>
          <p:nvPr/>
        </p:nvSpPr>
        <p:spPr>
          <a:xfrm>
            <a:off x="9875520" y="1600200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921240" y="1655064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서버 validation</a:t>
            </a:r>
            <a:endParaRPr lang="ko-KR" sz="1100"/>
          </a:p>
        </p:txBody>
      </p:sp>
      <p:sp>
        <p:nvSpPr>
          <p:cNvPr id="80" name="Rect 80"/>
          <p:cNvSpPr/>
          <p:nvPr/>
        </p:nvSpPr>
        <p:spPr>
          <a:xfrm>
            <a:off x="502920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00" name="TextBox 100"/>
          <p:cNvSpPr txBox="1"/>
          <p:nvPr/>
        </p:nvSpPr>
        <p:spPr>
          <a:xfrm>
            <a:off x="548640" y="284378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GPT 확인 기반 에이전트</a:t>
            </a:r>
            <a:endParaRPr lang="ko-KR" sz="1100"/>
          </a:p>
        </p:txBody>
      </p:sp>
      <p:cxnSp>
        <p:nvCxnSpPr>
          <p:cNvPr id="120" name="Line 120"/>
          <p:cNvCxnSpPr/>
          <p:nvPr/>
        </p:nvCxnSpPr>
        <p:spPr>
          <a:xfrm>
            <a:off x="2331720" y="3072384"/>
            <a:ext cx="320040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81" name="Rect 81"/>
          <p:cNvSpPr/>
          <p:nvPr/>
        </p:nvSpPr>
        <p:spPr>
          <a:xfrm>
            <a:off x="2743200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2788920" y="284378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사용자 확인</a:t>
            </a:r>
            <a:endParaRPr lang="ko-KR" sz="1100"/>
          </a:p>
        </p:txBody>
      </p:sp>
      <p:cxnSp>
        <p:nvCxnSpPr>
          <p:cNvPr id="121" name="Line 121"/>
          <p:cNvCxnSpPr/>
          <p:nvPr/>
        </p:nvCxnSpPr>
        <p:spPr>
          <a:xfrm>
            <a:off x="4572000" y="3072384"/>
            <a:ext cx="320039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82" name="Rect 82"/>
          <p:cNvSpPr/>
          <p:nvPr/>
        </p:nvSpPr>
        <p:spPr>
          <a:xfrm>
            <a:off x="4983480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02" name="TextBox 102"/>
          <p:cNvSpPr txBox="1"/>
          <p:nvPr/>
        </p:nvSpPr>
        <p:spPr>
          <a:xfrm>
            <a:off x="5029200" y="284378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서버 Tool 실행</a:t>
            </a:r>
            <a:endParaRPr lang="ko-KR" sz="1100"/>
          </a:p>
        </p:txBody>
      </p:sp>
      <p:cxnSp>
        <p:nvCxnSpPr>
          <p:cNvPr id="122" name="Line 122"/>
          <p:cNvCxnSpPr/>
          <p:nvPr/>
        </p:nvCxnSpPr>
        <p:spPr>
          <a:xfrm>
            <a:off x="6812280" y="3072384"/>
            <a:ext cx="320040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83" name="Rect 83"/>
          <p:cNvSpPr/>
          <p:nvPr/>
        </p:nvSpPr>
        <p:spPr>
          <a:xfrm>
            <a:off x="7223760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7269480" y="284378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TTS</a:t>
            </a:r>
            <a:endParaRPr lang="ko-KR" sz="1100"/>
          </a:p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gpt-4o-mini-tts</a:t>
            </a:r>
            <a:endParaRPr lang="ko-KR" sz="1100"/>
          </a:p>
        </p:txBody>
      </p:sp>
      <p:cxnSp>
        <p:nvCxnSpPr>
          <p:cNvPr id="123" name="Line 123"/>
          <p:cNvCxnSpPr/>
          <p:nvPr/>
        </p:nvCxnSpPr>
        <p:spPr>
          <a:xfrm>
            <a:off x="9052560" y="3072384"/>
            <a:ext cx="320039" cy="9144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84" name="Rect 84"/>
          <p:cNvSpPr/>
          <p:nvPr/>
        </p:nvSpPr>
        <p:spPr>
          <a:xfrm>
            <a:off x="9464040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04" name="TextBox 104"/>
          <p:cNvSpPr txBox="1"/>
          <p:nvPr/>
        </p:nvSpPr>
        <p:spPr>
          <a:xfrm>
            <a:off x="9509760" y="284378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1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사용자 음성 응답</a:t>
            </a:r>
            <a:endParaRPr lang="ko-KR" sz="1100"/>
          </a:p>
        </p:txBody>
      </p:sp>
      <p:sp>
        <p:nvSpPr>
          <p:cNvPr id="140" name="TextBox 140"/>
          <p:cNvSpPr txBox="1"/>
          <p:nvPr/>
        </p:nvSpPr>
        <p:spPr>
          <a:xfrm>
            <a:off x="731520" y="4069080"/>
            <a:ext cx="10789920" cy="141732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8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이 파이프라인은 실제 CareMate 앱에서 동작하는 기능 흐름이다.</a:t>
            </a:r>
            <a:endParaRPr lang="ko-KR" sz="1800"/>
          </a:p>
          <a:p>
            <a:r>
              <a:rPr lang="ko-KR" sz="18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모델 실험은 이 흐름 안의 STT, 정규화, 의도 분류, 위험 분석 모델 후보를 비교하는 작업이다.</a:t>
            </a:r>
            <a:endParaRPr lang="ko-KR" sz="1800"/>
          </a:p>
          <a:p>
            <a:r>
              <a:rPr lang="ko-KR" sz="18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GPT는 직접 실행하지 않고, 서버 검증과 사용자 확인 뒤 서버 Tool이 실제 실행한다.</a:t>
            </a:r>
            <a:endParaRPr lang="ko-KR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운영 파이프라인에서 모델이 들어가는 위치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STT: 운영 후보 gpt-4o-mini-transcribe / 실험 후보 Whisper fine-tuning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사투리 정규화: 규칙 기반 + GPT 프롬프트 / 실험 후보 gpt-4.1-mini fine-tuning, KoBART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의도 분류: 규칙 기반 + GPT structured output / 실험 후보 KLUE-RoBERTa, KoELECTRA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슬롯 추출: 규칙 기반 + GPT structured output / 실험 후보 NER 모델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메인 에이전트: gpt-5.4-mini, 프롬프트와 확인 정책을 검증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TTS: gpt-4o-mini-tts, 말투와 속도 프롬프트를 비교</a:t>
            </a:r>
            <a:endParaRPr lang="ko-KR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실험 목표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CareMate 앱에 적합한 모델 조합을 찾는다.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노인/사투리 음성 STT 성능을 비교한다.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사투리 발화 정규화가 의도 분류에 주는 영향을 검증한다.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일정, 복약, 보호자 메시지 등 의도 분류 정확도를 평가한다.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날짜, 시간, 약 이름 등 슬롯 추출 정확도를 평가한다.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GPT 확인 기반 에이전트가 안전하게 서버 Tool을 호출하는지 검증한다.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인지/우울 위험 신호 분석 모델의 baseline을 구축한다.</a:t>
            </a:r>
            <a:endParaRPr lang="ko-KR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사용 데이터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중노년층 방언 음성 데이터: 사투리 STT와 방언 정규화 실험에 사용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노인 명령어 음성 데이터: 명령어 STT와 의도 분류 실험에 사용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서비스 핵심 문장 데이터: 실제 앱 기능과 연결되는 문장 평가에 사용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인지기능 관련 데이터: 인지 위험 신호 분석 모델 실험에 사용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우울 관련 데이터: 우울 위험 신호 분석 모델 실험에 사용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하나의 모델에 모두 넣지 않고, 역할별 학습 데이터로 분리한다.</a:t>
            </a:r>
            <a:endParaRPr lang="ko-KR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STT 모델 실험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목적: 노인 발화와 사투리 음성을 얼마나 정확히 텍스트로 바꾸는지 비교한다.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비교 모델: gpt-4o-mini-transcribe, Whisper large-v3, Fine-tuned Whisper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학습 방식: 음성 파일 → 실제 발화 그대로의 전사문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예시: “내일 병원 가는 날이가?” → “내일 병원 가는 날이가?”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Whisper는 사투리를 표준어로 바꾸는 모델이 아니라 정확히 받아 적는 STT 모델로 학습한다.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표준어 변환은 다음 단계인 사투리 정규화에서 처리한다.</a:t>
            </a:r>
            <a:endParaRPr lang="ko-KR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STT 평가 방법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방언 test: 사투리 전사 성능 평가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명령어 test: 노인 명령어 인식 성능 평가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서비스 핵심 문장 test: 실제 앱 기능과 연결되는 문장 평가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평가 지표: WER, CER, 핵심 키워드 인식률, 서비스 문장 인식 성공률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서비스 문장 예시: “내일 병원 일정 있어?”, “아침 약 먹었다고 해줘”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운영 baseline보다 개선되는지 같은 평가셋에서 비교한다.</a:t>
            </a:r>
            <a:endParaRPr lang="ko-KR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사투리 정규화 실험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목적: STT 결과를 GPT 에이전트가 이해하기 쉬운 표현으로 변환한다.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예시: “내일 병원 가는 날이가?” → “내일 병원 가는 날인가요?”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비교 방식: 규칙 기반, GPT 프롬프트, gpt-4.1-mini fine-tuning, KoBART/T5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초기에는 규칙 기반과 GPT 프롬프트로 빠르게 구현한다.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데이터가 충분히 쌓이면 방언-표준어 pair로 fine-tuning을 검토한다.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평가 지표: 의미 보존율, 표준어 변환 정확도, 의도 분류 성능 개선 여부</a:t>
            </a:r>
            <a:endParaRPr lang="ko-KR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의도 분류 + 슬롯 추출 실험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목적: 사용자 발화를 앱 기능과 연결 가능한 JSON 구조로 바꾼다.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Intent 후보: schedule_check, schedule_create, medication_check, medication_taken, guardian_message, mode_change, unknown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Slot 후보: date, time, title, medicine_name, guardian, message, mode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예시: “내일 병원 일정 등록해줘” → intent=schedule_create, date=tomorrow, title=병원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평가 지표: Intent Accuracy, Slot F1-score, Tool 실행 가능 JSON 생성률, 재확인 필요 판단 정확도</a:t>
            </a:r>
            <a:endParaRPr lang="ko-KR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GPT 확인 기반 에이전트 검증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목적: GPT가 요청을 바로 실행하지 않고, 확인 후 서버 Tool을 호출하도록 검증한다.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예시: “딸한테 오늘 병원 갔다 왔다고 보내줘” → 전송 문장 확인 → 사용자 “응” → 서버 Tool 실행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GPT는 실제 DB 변경을 하지 않는다.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실제 실행은 서버 Tool이 담당한다.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확인이 필요한 기능은 반드시 사용자 확인 후 실행한다.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평가 항목: 확인 질문 적절성, 부족한 정보 재질문 성공률, 잘못된 실행 방지율, Tool 호출 정확도</a:t>
            </a:r>
            <a:endParaRPr lang="ko-KR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인지/우울 위험 신호 분석 실험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이 파이프라인은 실시간 대화와 분리된 병렬 분석이다.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입력: 대화 로그, raw transcript, normalized transcript, 음성 feature, 사용 로그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인지 위험 후보 모델: LightGBM, KLUE-RoBERTa, wav2vec2-XLS-R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우울 위험 후보 모델: LightGBM, KoELECTRA, KLUE-RoBERTa, wav2vec2-XLS-R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목적은 진단이 아니라 보호자 앱에 관찰 신호를 표시하는 것이다.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금지 표현: “치매입니다”, “우울증입니다”, “진단됩니다”</a:t>
            </a:r>
            <a:endParaRPr lang="ko-KR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실험 비교 기준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STT: WER, CER, 핵심 키워드 인식률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정규화: 의미 보존율, 표준어 변환 정확도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의도 분류: Intent Accuracy, F1-score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슬롯 추출: Slot F1-score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에이전트: 확인 질문 적절성, Tool 호출 정확도, 잘못된 실행 방지율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위험 분석: Precision, Recall, F1-score, 오탐률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서비스 반영 기준은 정확도, 안전성, 지연시간을 함께 본다.</a:t>
            </a:r>
            <a:endParaRPr lang="ko-KR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실험 진행 순서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1. 데이터 구조 분석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2. 공통 manifest 생성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3. train / validation / test 분리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4. STT baseline 평가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5. Whisper fine-tuning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6. 정규화 모델 실험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7. 의도 분류/슬롯 추출 실험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8. GPT 에이전트 E2E 검증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9. 인지/우울 위험 분석 baseline 구축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10. 운영 모델과 비교 후 반영 여부 결정</a:t>
            </a:r>
            <a:endParaRPr lang="ko-KR"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최종 기대 결과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594360" y="1920240"/>
            <a:ext cx="10972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2121408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CareMate 앱에서 동작 가능한 음성 AI 운영 파이프라인 구축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gpt-4o-mini-transcribe와 Whisper fine-tuning 성능 비교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사투리 정규화가 의도 분류 성능에 주는 영향 확인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노인 명령어 기반 intent/slot 처리 성능 검증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GPT 확인 기반 에이전트의 안전한 실행 흐름 검증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인지/우울 위험 신호 분석 baseline 확보</a:t>
            </a:r>
            <a:endParaRPr lang="ko-KR" sz="1900"/>
          </a:p>
          <a:p>
            <a:r>
              <a:rPr lang="ko-KR" sz="19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• 검증된 모델만 서비스 후보로 반영</a:t>
            </a:r>
            <a:endParaRPr lang="ko-KR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1000" dirty="0" b="1">
                <a:solidFill>
                  <a:srgbClr val="2563EB"/>
                </a:solidFill>
                <a:latin typeface="Apple SD Gothic Neo"/>
                <a:ea typeface="Apple SD Gothic Neo"/>
              </a:rPr>
              <a:t>CareMate AI Experiment Plan</a:t>
            </a:r>
            <a:endParaRPr lang="ko-KR" sz="1000"/>
          </a:p>
        </p:txBody>
      </p:sp>
      <p:sp>
        <p:nvSpPr>
          <p:cNvPr id="3" name="TextBox 3"/>
          <p:cNvSpPr txBox="1"/>
          <p:nvPr/>
        </p:nvSpPr>
        <p:spPr>
          <a:xfrm>
            <a:off x="411480" y="5669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6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결론</a:t>
            </a:r>
            <a:endParaRPr lang="ko-KR" sz="2600"/>
          </a:p>
        </p:txBody>
      </p:sp>
      <p:sp>
        <p:nvSpPr>
          <p:cNvPr id="4" name="Rect 4"/>
          <p:cNvSpPr/>
          <p:nvPr/>
        </p:nvSpPr>
        <p:spPr>
          <a:xfrm>
            <a:off x="411480" y="1243584"/>
            <a:ext cx="1138428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6" name="Rect 6"/>
          <p:cNvSpPr/>
          <p:nvPr/>
        </p:nvSpPr>
        <p:spPr>
          <a:xfrm>
            <a:off x="731520" y="1737360"/>
            <a:ext cx="10698480" cy="187451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0120" y="1938528"/>
            <a:ext cx="10241280" cy="141732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2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CareMate의 실시간 운영 대화 파이프라인은 실제 앱 기능을 처리하는 구조다.</a:t>
            </a:r>
            <a:endParaRPr lang="ko-KR" sz="2200"/>
          </a:p>
          <a:p>
            <a:r>
              <a:rPr lang="ko-KR" sz="2200" dirty="0" b="1">
                <a:solidFill>
                  <a:srgbClr val="111827"/>
                </a:solidFill>
                <a:latin typeface="Apple SD Gothic Neo"/>
                <a:ea typeface="Apple SD Gothic Neo"/>
              </a:rPr>
              <a:t>이번 실험의 핵심은 이 파이프라인을 구성하는 모델들을 같은 평가셋에서 비교하는 것이다.</a:t>
            </a:r>
            <a:endParaRPr lang="ko-KR" sz="2200"/>
          </a:p>
        </p:txBody>
      </p:sp>
      <p:sp>
        <p:nvSpPr>
          <p:cNvPr id="8" name="TextBox 8"/>
          <p:cNvSpPr txBox="1"/>
          <p:nvPr/>
        </p:nvSpPr>
        <p:spPr>
          <a:xfrm>
            <a:off x="914400" y="4069080"/>
            <a:ext cx="10424160" cy="1463040"/>
          </a:xfrm>
          <a:prstGeom prst="rect">
            <a:avLst/>
          </a:prstGeom>
          <a:noFill/>
          <a:ln>
            <a:noFill/>
          </a:ln>
        </p:spPr>
        <p:txBody>
          <a:bodyPr wrap="square" lIns="127000" tIns="90000" rIns="127000" bIns="90000"/>
          <a:lstStyle/>
          <a:p>
            <a:r>
              <a:rPr lang="ko-KR" sz="20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최종적으로는 정확도와 안전성이 검증된 모델만 CareMate 서비스 후보로 반영한다.</a:t>
            </a:r>
            <a:endParaRPr lang="ko-KR" sz="2000"/>
          </a:p>
          <a:p>
            <a:r>
              <a:rPr lang="ko-KR" sz="2000" dirty="0" b="0">
                <a:solidFill>
                  <a:srgbClr val="111827"/>
                </a:solidFill>
                <a:latin typeface="Apple SD Gothic Neo"/>
                <a:ea typeface="Apple SD Gothic Neo"/>
              </a:rPr>
              <a:t>노인 대상 서비스이므로 모델 성능뿐 아니라 서버 검증, 사용자 확인, 진단 금지 원칙을 함께 평가한다.</a:t>
            </a:r>
            <a:endParaRPr lang="ko-KR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Mate">
  <a:themeElements>
    <a:clrScheme name="CareMate">
      <a:dk1>
        <a:srgbClr val="111827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059669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64748B"/>
      </a:folHlink>
    </a:clrScheme>
    <a:fontScheme name="CareMate">
      <a:majorFont>
        <a:latin typeface="Apple SD Gothic Neo"/>
        <a:ea typeface="Apple SD Gothic Neo"/>
      </a:majorFont>
      <a:minorFont>
        <a:latin typeface="Apple SD Gothic Neo"/>
        <a:ea typeface="Apple SD Gothic Neo"/>
      </a:minorFont>
    </a:fontScheme>
    <a:fmtScheme name="CareMat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CareMate AI Experiment Plan</dc:title>
  <dc:creator>Codex</dc:creator>
  <cp:lastModifiedBy>Codex</cp:lastModifiedBy>
  <dcterms:created xsi:type="dcterms:W3CDTF">2026-04-24T14:17:43Z</dcterms:created>
  <dcterms:modified xsi:type="dcterms:W3CDTF">2026-04-24T14:17:43Z</dcterms:modified>
</cp:coreProperties>
</file>